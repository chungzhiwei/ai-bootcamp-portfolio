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aleway"/>
      <p:regular r:id="rId12"/>
      <p:bold r:id="rId13"/>
      <p:italic r:id="rId14"/>
      <p:boldItalic r:id="rId15"/>
    </p:embeddedFont>
    <p:embeddedFont>
      <p:font typeface="Lat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aleway-bold.fntdata"/><Relationship Id="rId12" Type="http://schemas.openxmlformats.org/officeDocument/2006/relationships/font" Target="fonts/Raleway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aleway-boldItalic.fntdata"/><Relationship Id="rId14" Type="http://schemas.openxmlformats.org/officeDocument/2006/relationships/font" Target="fonts/Raleway-italic.fntdata"/><Relationship Id="rId17" Type="http://schemas.openxmlformats.org/officeDocument/2006/relationships/font" Target="fonts/Lato-bold.fntdata"/><Relationship Id="rId16" Type="http://schemas.openxmlformats.org/officeDocument/2006/relationships/font" Target="fonts/Lat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boldItalic.fntdata"/><Relationship Id="rId6" Type="http://schemas.openxmlformats.org/officeDocument/2006/relationships/slide" Target="slides/slide1.xml"/><Relationship Id="rId18" Type="http://schemas.openxmlformats.org/officeDocument/2006/relationships/font" Target="fonts/La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b9a0b07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b9a0b07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d5b15f0a3_5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d5b15f0a3_5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723630543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723630543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cb9a0b074_1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cb9a0b074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652902f48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f652902f48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f657717a6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f657717a6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5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7"/>
          <p:cNvSpPr txBox="1"/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rgbClr val="353535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8"/>
          <p:cNvSpPr txBox="1"/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9"/>
          <p:cNvSpPr txBox="1"/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" type="subTitle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1"/>
          <p:cNvSpPr txBox="1"/>
          <p:nvPr>
            <p:ph hasCustomPrompt="1" type="title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wiss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hyperlink" Target="https://ai-bootcamp-portfolio-qqy4fk5cpdbftyxyuk45lj.streamlit.app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Mahjong Hand Analyzer</a:t>
            </a:r>
            <a:endParaRPr/>
          </a:p>
        </p:txBody>
      </p:sp>
      <p:sp>
        <p:nvSpPr>
          <p:cNvPr id="73" name="Google Shape;73;p13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By Chung Zhi Wei</a:t>
            </a:r>
            <a:endParaRPr b="1" sz="2400"/>
          </a:p>
        </p:txBody>
      </p:sp>
      <p:sp>
        <p:nvSpPr>
          <p:cNvPr id="74" name="Google Shape;74;p13"/>
          <p:cNvSpPr txBox="1"/>
          <p:nvPr>
            <p:ph idx="1" type="subTitle"/>
          </p:nvPr>
        </p:nvSpPr>
        <p:spPr>
          <a:xfrm>
            <a:off x="2390267" y="2172225"/>
            <a:ext cx="6331500" cy="12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Consult with us on your mahjong tiles in hands and get advice to win.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idx="4294967295" type="title"/>
          </p:nvPr>
        </p:nvSpPr>
        <p:spPr>
          <a:xfrm>
            <a:off x="535775" y="712150"/>
            <a:ext cx="51972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3600">
                <a:solidFill>
                  <a:schemeClr val="dk1"/>
                </a:solidFill>
              </a:rPr>
              <a:t>The Problem</a:t>
            </a:r>
            <a:endParaRPr sz="2400"/>
          </a:p>
        </p:txBody>
      </p:sp>
      <p:sp>
        <p:nvSpPr>
          <p:cNvPr id="80" name="Google Shape;80;p14"/>
          <p:cNvSpPr txBox="1"/>
          <p:nvPr>
            <p:ph idx="4294967295" type="title"/>
          </p:nvPr>
        </p:nvSpPr>
        <p:spPr>
          <a:xfrm>
            <a:off x="535775" y="1480150"/>
            <a:ext cx="8109900" cy="30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800">
                <a:latin typeface="Lato"/>
                <a:ea typeface="Lato"/>
                <a:cs typeface="Lato"/>
                <a:sym typeface="Lato"/>
              </a:rPr>
              <a:t>When playing mahjong, you would come </a:t>
            </a:r>
            <a:r>
              <a:rPr b="0" lang="en" sz="1800">
                <a:latin typeface="Lato"/>
                <a:ea typeface="Lato"/>
                <a:cs typeface="Lato"/>
                <a:sym typeface="Lato"/>
              </a:rPr>
              <a:t>across</a:t>
            </a:r>
            <a:r>
              <a:rPr b="0" lang="en" sz="1800">
                <a:latin typeface="Lato"/>
                <a:ea typeface="Lato"/>
                <a:cs typeface="Lato"/>
                <a:sym typeface="Lato"/>
              </a:rPr>
              <a:t> some hands that seems messy. To add on to that some games have house rules and minimum points making your hand that looks like its complete to be invalid. </a:t>
            </a:r>
            <a:endParaRPr b="0" sz="1800"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0" lang="en" sz="1800">
                <a:latin typeface="Lato"/>
                <a:ea typeface="Lato"/>
                <a:cs typeface="Lato"/>
                <a:sym typeface="Lato"/>
              </a:rPr>
              <a:t>Non experienced people would look at their hand and ask what should I do? </a:t>
            </a:r>
            <a:br>
              <a:rPr b="0" lang="en" sz="1800">
                <a:latin typeface="Lato"/>
                <a:ea typeface="Lato"/>
                <a:cs typeface="Lato"/>
                <a:sym typeface="Lato"/>
              </a:rPr>
            </a:br>
            <a:r>
              <a:rPr b="0" lang="en" sz="1800">
                <a:latin typeface="Lato"/>
                <a:ea typeface="Lato"/>
                <a:cs typeface="Lato"/>
                <a:sym typeface="Lato"/>
              </a:rPr>
              <a:t>Well that is where this app comes in, to give you advice on what to do.</a:t>
            </a:r>
            <a:endParaRPr b="0" sz="1800"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b="0" lang="en" sz="1800">
                <a:latin typeface="Lato"/>
                <a:ea typeface="Lato"/>
                <a:cs typeface="Lato"/>
                <a:sym typeface="Lato"/>
              </a:rPr>
              <a:t>The reason for using AI is that this game does have many ways to win and we want to give other options rather than just one calculated route.</a:t>
            </a:r>
            <a:endParaRPr b="0" sz="180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050" y="162725"/>
            <a:ext cx="7797625" cy="481804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 txBox="1"/>
          <p:nvPr/>
        </p:nvSpPr>
        <p:spPr>
          <a:xfrm>
            <a:off x="1378925" y="687400"/>
            <a:ext cx="6406500" cy="76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lt2"/>
                </a:solidFill>
                <a:latin typeface="Raleway"/>
                <a:ea typeface="Raleway"/>
                <a:cs typeface="Raleway"/>
                <a:sym typeface="Raleway"/>
              </a:rPr>
              <a:t>How it works</a:t>
            </a:r>
            <a:endParaRPr b="1" sz="3000">
              <a:solidFill>
                <a:schemeClr val="lt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7" name="Google Shape;87;p15"/>
          <p:cNvSpPr txBox="1"/>
          <p:nvPr>
            <p:ph idx="4294967295" type="body"/>
          </p:nvPr>
        </p:nvSpPr>
        <p:spPr>
          <a:xfrm>
            <a:off x="1378925" y="1377475"/>
            <a:ext cx="6406500" cy="33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1. </a:t>
            </a: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User fills out information on what is in their hand and what the current rules are.</a:t>
            </a:r>
            <a:endParaRPr sz="12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2. After reviewing their input the user press analyze.</a:t>
            </a:r>
            <a:endParaRPr sz="12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3. Here is where the app takes in the input and builds a prompt.</a:t>
            </a:r>
            <a:endParaRPr sz="14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4</a:t>
            </a: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. Once the prompt is built it sends it over to the AI API.</a:t>
            </a:r>
            <a:endParaRPr sz="12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5. Once the AI API returns with its output, display it for the user.</a:t>
            </a:r>
            <a:endParaRPr sz="140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4700" y="162737"/>
            <a:ext cx="4254600" cy="4818038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2855550" y="2190447"/>
            <a:ext cx="3432900" cy="76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 u="sng">
                <a:solidFill>
                  <a:schemeClr val="hlink"/>
                </a:solidFill>
                <a:latin typeface="Raleway"/>
                <a:ea typeface="Raleway"/>
                <a:cs typeface="Raleway"/>
                <a:sym typeface="Raleway"/>
                <a:hlinkClick r:id="rId4"/>
              </a:rPr>
              <a:t>Live Demo!</a:t>
            </a:r>
            <a:endParaRPr b="1" sz="3000">
              <a:solidFill>
                <a:schemeClr val="lt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050" y="162725"/>
            <a:ext cx="7797625" cy="4818049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1378925" y="687400"/>
            <a:ext cx="6406500" cy="76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lt2"/>
                </a:solidFill>
                <a:latin typeface="Raleway"/>
                <a:ea typeface="Raleway"/>
                <a:cs typeface="Raleway"/>
                <a:sym typeface="Raleway"/>
              </a:rPr>
              <a:t>What I learned</a:t>
            </a:r>
            <a:endParaRPr b="1" sz="3000">
              <a:solidFill>
                <a:schemeClr val="lt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0" name="Google Shape;100;p17"/>
          <p:cNvSpPr txBox="1"/>
          <p:nvPr>
            <p:ph idx="4294967295" type="body"/>
          </p:nvPr>
        </p:nvSpPr>
        <p:spPr>
          <a:xfrm>
            <a:off x="1378925" y="1377475"/>
            <a:ext cx="6406500" cy="33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Some knowledge are not present in the model. For this case, mahjong is not known by llama. I tried other llama models and they all did not know what mahjong is.  Only when I switch model does it finally know what mahjong is.</a:t>
            </a:r>
            <a:endParaRPr b="1" sz="1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If I could do anything differently it would be the UI. I went to make the UI beautiful but when bringing it to the game, it takes some time to key in the tiles. </a:t>
            </a:r>
            <a:endParaRPr b="1" sz="1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What could be next would be seeing adding the discard to the analysis.</a:t>
            </a:r>
            <a:endParaRPr b="1" sz="1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4700" y="162737"/>
            <a:ext cx="4254600" cy="481803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8"/>
          <p:cNvSpPr txBox="1"/>
          <p:nvPr/>
        </p:nvSpPr>
        <p:spPr>
          <a:xfrm>
            <a:off x="2855550" y="2190447"/>
            <a:ext cx="3432900" cy="76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Raleway"/>
                <a:ea typeface="Raleway"/>
                <a:cs typeface="Raleway"/>
                <a:sym typeface="Raleway"/>
              </a:rPr>
              <a:t>Thank You!</a:t>
            </a:r>
            <a:endParaRPr b="1" sz="3000">
              <a:solidFill>
                <a:schemeClr val="lt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